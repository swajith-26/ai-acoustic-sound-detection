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8136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300" b="1">
                <a:solidFill>
                  <a:srgbClr val="FFFFFF"/>
                </a:solidFill>
              </a:rPr>
              <a:t>AI-BASED EMERGENCY</a:t>
            </a:r>
          </a:p>
          <a:p>
            <a:r>
              <a:rPr sz="3300" b="1">
                <a:solidFill>
                  <a:srgbClr val="FFFFFF"/>
                </a:solidFill>
              </a:rPr>
              <a:t>ACOUSTIC EVENT DETECTION</a:t>
            </a:r>
          </a:p>
          <a:p>
            <a:r>
              <a:rPr sz="3300" b="1">
                <a:solidFill>
                  <a:srgbClr val="6EB9F5"/>
                </a:solidFill>
              </a:rPr>
              <a:t>AND ALERT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>
                <a:solidFill>
                  <a:srgbClr val="FFFFFF"/>
                </a:solidFill>
              </a:rPr>
              <a:t>Interdisciplinary ECE Project | AECD + Signal Processing +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46120"/>
            <a:ext cx="1078992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Course: ANALOG ELECTRONIC CIRCUIT DESIGN — 25EC 1302E</a:t>
            </a:r>
          </a:p>
          <a:p>
            <a:r>
              <a:rPr sz="1200">
                <a:solidFill>
                  <a:srgbClr val="FFFFFF"/>
                </a:solidFill>
              </a:rPr>
              <a:t>Team 4: Y. SWAJITH (2510040011)  |  C. VANSHIKA (2510040017)</a:t>
            </a:r>
          </a:p>
          <a:p>
            <a:r>
              <a:rPr sz="1200">
                <a:solidFill>
                  <a:srgbClr val="FFFFFF"/>
                </a:solidFill>
              </a:rPr>
              <a:t>Y. SOMANATH (2510040018)  |  SAI KRISHNA (2510040089)</a:t>
            </a:r>
          </a:p>
          <a:p>
            <a:r>
              <a:rPr sz="1200">
                <a:solidFill>
                  <a:srgbClr val="FFFFFF"/>
                </a:solidFill>
              </a:rPr>
              <a:t>Guide/CC-CI: Dr A. Bhuvaneshwari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212080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12233E"/>
                </a:solidFill>
              </a:rPr>
              <a:t>MICROPHONE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5212080"/>
            <a:ext cx="132588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12233E"/>
                </a:solidFill>
              </a:rPr>
              <a:t>AECD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5212080"/>
            <a:ext cx="24231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12233E"/>
                </a:solidFill>
              </a:rPr>
              <a:t>SIGNAL PROCESSING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0" y="5212080"/>
            <a:ext cx="18288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12233E"/>
                </a:solidFill>
              </a:rPr>
              <a:t>ML CLASSIFIER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5212080"/>
            <a:ext cx="150876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12233E"/>
                </a:solidFill>
              </a:rPr>
              <a:t>ALERT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8932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FFFFFF"/>
                </a:solidFill>
              </a:rPr>
              <a:t>Koneru Lakshmaiah Education Foundation, Aziz Nagar | https://github.com/swajith-26/AI-Acoustic-Sound-Detection.git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E"/>
                </a:solidFill>
              </a:rP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</a:defRPr>
            </a:pPr>
            <a:r>
              <a:t>Proposed low-cost system that captures environmental audio and classifies selected warning-related events.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</a:defRPr>
            </a:pPr>
            <a:r>
              <a:t>Target classes: siren, vehicle horn, alarm and normal/environmental sound, subject to verification of dataset labels.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</a:defRPr>
            </a:pPr>
            <a:r>
              <a:t>AECD conditions the signal where required; SP extracts compact features; ML predicts the class.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</a:defRPr>
            </a:pPr>
            <a:r>
              <a:t>Local output: LED, buzzer and/or display. This is an educational prototype, not a certified safety device.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E"/>
                </a:solidFill>
              </a:rPr>
              <a:t>2.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</a:defRPr>
            </a:pPr>
            <a:r>
              <a:t>Basic sound-level sensors respond mainly to amplitude and cannot reliably identify the type of sound.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</a:defRPr>
            </a:pPr>
            <a:r>
              <a:t>Unrelated loud events may trigger a threshold detector, while quieter or distant warnings may be missed.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</a:defRPr>
            </a:pPr>
            <a:r>
              <a:t>Goal: develop a low-cost prototype that classifies selected acoustic events and activates a local indication.</a:t>
            </a:r>
          </a:p>
          <a:p>
            <a:pPr>
              <a:spcAft>
                <a:spcPts val="1000"/>
              </a:spcAft>
              <a:defRPr sz="1800">
                <a:solidFill>
                  <a:srgbClr val="232B37"/>
                </a:solidFill>
              </a:defRPr>
            </a:pPr>
            <a:r>
              <a:t>Both missed detections and false alerts must be considered during evaluation.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846320"/>
            <a:ext cx="3657600" cy="822960"/>
          </a:xfrm>
          <a:prstGeom prst="roundRect">
            <a:avLst/>
          </a:prstGeom>
          <a:solidFill>
            <a:srgbClr val="EFF5FC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1">
                <a:solidFill>
                  <a:srgbClr val="12233E"/>
                </a:solidFill>
              </a:rPr>
              <a:t>THRESHOLD SENSOR
LOUD / NOT LOUD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480560" y="5257800"/>
            <a:ext cx="640080" cy="0"/>
          </a:xfrm>
          <a:prstGeom prst="line">
            <a:avLst/>
          </a:prstGeom>
          <a:ln w="25400">
            <a:solidFill>
              <a:srgbClr val="28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212080" y="4846320"/>
            <a:ext cx="5029200" cy="822960"/>
          </a:xfrm>
          <a:prstGeom prst="roundRect">
            <a:avLst/>
          </a:prstGeom>
          <a:solidFill>
            <a:srgbClr val="E1F2E6"/>
          </a:solidFill>
          <a:ln>
            <a:solidFill>
              <a:srgbClr val="3791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500" b="1">
                <a:solidFill>
                  <a:srgbClr val="12233E"/>
                </a:solidFill>
              </a:rPr>
              <a:t>PROPOSED SYSTEM
SOUND → SP → ML → 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E"/>
                </a:solidFill>
              </a:rPr>
              <a:t>3. Integration of AECD + SP + 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3246120" cy="640080"/>
          </a:xfrm>
          <a:prstGeom prst="roundRect">
            <a:avLst/>
          </a:prstGeom>
          <a:solidFill>
            <a:srgbClr val="E8F1FD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2233E"/>
                </a:solidFill>
              </a:rPr>
              <a:t>AECD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31546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32B37"/>
                </a:solidFill>
              </a:rPr>
              <a:t>Microphone interface, coupling, amplification, filtering and power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0" y="1691640"/>
            <a:ext cx="502920" cy="0"/>
          </a:xfrm>
          <a:prstGeom prst="line">
            <a:avLst/>
          </a:prstGeom>
          <a:ln w="25400">
            <a:solidFill>
              <a:srgbClr val="28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434840" y="1371600"/>
            <a:ext cx="3246120" cy="640080"/>
          </a:xfrm>
          <a:prstGeom prst="roundRect">
            <a:avLst/>
          </a:prstGeom>
          <a:solidFill>
            <a:srgbClr val="EBF7EF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2233E"/>
                </a:solidFill>
              </a:rPr>
              <a:t>SIGNAL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148840"/>
            <a:ext cx="31546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32B37"/>
                </a:solidFill>
              </a:rPr>
              <a:t>Sampling, segmentation, FFT and feature extraction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680960" y="1691640"/>
            <a:ext cx="502919" cy="0"/>
          </a:xfrm>
          <a:prstGeom prst="line">
            <a:avLst/>
          </a:prstGeom>
          <a:ln w="25400">
            <a:solidFill>
              <a:srgbClr val="28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275320" y="1371600"/>
            <a:ext cx="3246120" cy="640080"/>
          </a:xfrm>
          <a:prstGeom prst="roundRect">
            <a:avLst/>
          </a:prstGeom>
          <a:solidFill>
            <a:srgbClr val="FAF2E0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2233E"/>
                </a:solidFill>
              </a:rPr>
              <a:t>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48840"/>
            <a:ext cx="31546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232B37"/>
                </a:solidFill>
              </a:rPr>
              <a:t>Decision Tree baseline; Random Forest candidate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4434840"/>
            <a:ext cx="4023360" cy="685800"/>
          </a:xfrm>
          <a:prstGeom prst="roundRect">
            <a:avLst/>
          </a:prstGeom>
          <a:solidFill>
            <a:srgbClr val="12233E"/>
          </a:solidFill>
          <a:ln>
            <a:solidFill>
              <a:srgbClr val="12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800" b="1">
                <a:solidFill>
                  <a:srgbClr val="FFFFFF"/>
                </a:solidFill>
              </a:rPr>
              <a:t>INTELLIGENT LOCAL ALERT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383280"/>
            <a:ext cx="0" cy="1005840"/>
          </a:xfrm>
          <a:prstGeom prst="line">
            <a:avLst/>
          </a:prstGeom>
          <a:ln w="25400">
            <a:solidFill>
              <a:srgbClr val="28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553212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solidFill>
                  <a:srgbClr val="12233E"/>
                </a:solidFill>
              </a:rPr>
              <a:t>AECD captures → SP analyses → ML classifies → hardware indicates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E"/>
                </a:solidFill>
              </a:rPr>
              <a:t>4. Proposed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987552"/>
            <a:ext cx="5577840" cy="329184"/>
          </a:xfrm>
          <a:prstGeom prst="roundRect">
            <a:avLst/>
          </a:prstGeom>
          <a:solidFill>
            <a:srgbClr val="EFF5FC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12233E"/>
                </a:solidFill>
              </a:rPr>
              <a:t>Environmental Sound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316736"/>
            <a:ext cx="0" cy="155448"/>
          </a:xfrm>
          <a:prstGeom prst="line">
            <a:avLst/>
          </a:prstGeom>
          <a:ln w="25400">
            <a:solidFill>
              <a:srgbClr val="28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291840" y="1490472"/>
            <a:ext cx="5577840" cy="329184"/>
          </a:xfrm>
          <a:prstGeom prst="roundRect">
            <a:avLst/>
          </a:prstGeom>
          <a:solidFill>
            <a:srgbClr val="EFF5FC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12233E"/>
                </a:solidFill>
              </a:rPr>
              <a:t>Microphone / Interface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819656"/>
            <a:ext cx="0" cy="155448"/>
          </a:xfrm>
          <a:prstGeom prst="line">
            <a:avLst/>
          </a:prstGeom>
          <a:ln w="25400">
            <a:solidFill>
              <a:srgbClr val="28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91840" y="1993392"/>
            <a:ext cx="5577840" cy="329184"/>
          </a:xfrm>
          <a:prstGeom prst="roundRect">
            <a:avLst/>
          </a:prstGeom>
          <a:solidFill>
            <a:srgbClr val="EFF5FC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12233E"/>
                </a:solidFill>
              </a:rPr>
              <a:t>AC Coupling + Amplifier (if analog mic)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322576"/>
            <a:ext cx="0" cy="155448"/>
          </a:xfrm>
          <a:prstGeom prst="line">
            <a:avLst/>
          </a:prstGeom>
          <a:ln w="25400">
            <a:solidFill>
              <a:srgbClr val="28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291840" y="2496312"/>
            <a:ext cx="5577840" cy="329184"/>
          </a:xfrm>
          <a:prstGeom prst="roundRect">
            <a:avLst/>
          </a:prstGeom>
          <a:solidFill>
            <a:srgbClr val="EFF5FC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12233E"/>
                </a:solidFill>
              </a:rPr>
              <a:t>Analog Filter / Anti-aliasing (as required)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" y="2825496"/>
            <a:ext cx="0" cy="155448"/>
          </a:xfrm>
          <a:prstGeom prst="line">
            <a:avLst/>
          </a:prstGeom>
          <a:ln w="25400">
            <a:solidFill>
              <a:srgbClr val="28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291840" y="2999232"/>
            <a:ext cx="5577840" cy="329184"/>
          </a:xfrm>
          <a:prstGeom prst="roundRect">
            <a:avLst/>
          </a:prstGeom>
          <a:solidFill>
            <a:srgbClr val="EFF5FC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12233E"/>
                </a:solidFill>
              </a:rPr>
              <a:t>ADC / Audio Capture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" y="3328416"/>
            <a:ext cx="0" cy="155448"/>
          </a:xfrm>
          <a:prstGeom prst="line">
            <a:avLst/>
          </a:prstGeom>
          <a:ln w="25400">
            <a:solidFill>
              <a:srgbClr val="28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291840" y="3502152"/>
            <a:ext cx="5577840" cy="329184"/>
          </a:xfrm>
          <a:prstGeom prst="roundRect">
            <a:avLst/>
          </a:prstGeom>
          <a:solidFill>
            <a:srgbClr val="EFF5FC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12233E"/>
                </a:solidFill>
              </a:rPr>
              <a:t>Digital Pre-processing + Framing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" y="3831336"/>
            <a:ext cx="0" cy="155448"/>
          </a:xfrm>
          <a:prstGeom prst="line">
            <a:avLst/>
          </a:prstGeom>
          <a:ln w="25400">
            <a:solidFill>
              <a:srgbClr val="28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291840" y="4005072"/>
            <a:ext cx="5577840" cy="329184"/>
          </a:xfrm>
          <a:prstGeom prst="roundRect">
            <a:avLst/>
          </a:prstGeom>
          <a:solidFill>
            <a:srgbClr val="EFF5FC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12233E"/>
                </a:solidFill>
              </a:rPr>
              <a:t>FFT + Feature Extraction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" y="4334256"/>
            <a:ext cx="0" cy="155448"/>
          </a:xfrm>
          <a:prstGeom prst="line">
            <a:avLst/>
          </a:prstGeom>
          <a:ln w="25400">
            <a:solidFill>
              <a:srgbClr val="28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291840" y="4507992"/>
            <a:ext cx="5577840" cy="329184"/>
          </a:xfrm>
          <a:prstGeom prst="roundRect">
            <a:avLst/>
          </a:prstGeom>
          <a:solidFill>
            <a:srgbClr val="EFF5FC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12233E"/>
                </a:solidFill>
              </a:rPr>
              <a:t>Decision Tree / Random Forest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80760" y="4837176"/>
            <a:ext cx="0" cy="155448"/>
          </a:xfrm>
          <a:prstGeom prst="line">
            <a:avLst/>
          </a:prstGeom>
          <a:ln w="25400">
            <a:solidFill>
              <a:srgbClr val="28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291840" y="5010912"/>
            <a:ext cx="5577840" cy="329184"/>
          </a:xfrm>
          <a:prstGeom prst="roundRect">
            <a:avLst/>
          </a:prstGeom>
          <a:solidFill>
            <a:srgbClr val="EFF5FC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12233E"/>
                </a:solidFill>
              </a:rPr>
              <a:t>Class Decision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80760" y="5340096"/>
            <a:ext cx="0" cy="155448"/>
          </a:xfrm>
          <a:prstGeom prst="line">
            <a:avLst/>
          </a:prstGeom>
          <a:ln w="25400">
            <a:solidFill>
              <a:srgbClr val="286E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291840" y="5513832"/>
            <a:ext cx="5577840" cy="329184"/>
          </a:xfrm>
          <a:prstGeom prst="roundRect">
            <a:avLst/>
          </a:prstGeom>
          <a:solidFill>
            <a:srgbClr val="EFF5FC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100" b="1">
                <a:solidFill>
                  <a:srgbClr val="12233E"/>
                </a:solidFill>
              </a:rPr>
              <a:t>LED / Buzzer / Display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E"/>
                </a:solidFill>
              </a:rPr>
              <a:t>5. AECD: Analog Front-End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</a:defRPr>
            </a:pPr>
            <a:r>
              <a:t>Microphone interface converts acoustic pressure into an electrical signal or supplies digital samples, depending on module type.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</a:defRPr>
            </a:pPr>
            <a:r>
              <a:t>AC coupling can block unwanted DC between analog stages where appropriate.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</a:defRPr>
            </a:pPr>
            <a:r>
              <a:t>Pre-amplifier raises low-level analog audio while keeping the signal within ADC input limits.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</a:defRPr>
            </a:pPr>
            <a:r>
              <a:t>Analog filtering limits unwanted frequencies; cutoff values depend on the microphone and sampling rate.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</a:defRPr>
            </a:pPr>
            <a:r>
              <a:t>Stable supply, decoupling, grounding and safe output interfacing are part of the circuit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E"/>
                </a:solidFill>
              </a:rPr>
              <a:t>6. Signal Processing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</a:defRPr>
            </a:pPr>
            <a:r>
              <a:t>Sampling represents continuous audio as discrete samples.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</a:defRPr>
            </a:pPr>
            <a:r>
              <a:t>Segmentation analyses short frames using a documented frame length and overlap.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</a:defRPr>
            </a:pPr>
            <a:r>
              <a:t>Filtering reduces unwanted components where appropriate.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</a:defRPr>
            </a:pPr>
            <a:r>
              <a:t>FFT gives a frequency-domain representation of the selected frame.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</a:defRPr>
            </a:pPr>
            <a:r>
              <a:t>Extract RMS energy, zero-crossing rate, dominant frequency, spectral energy and spectral centroid.</a:t>
            </a:r>
          </a:p>
          <a:p>
            <a:pPr>
              <a:spcAft>
                <a:spcPts val="1000"/>
              </a:spcAft>
              <a:defRPr sz="1600">
                <a:solidFill>
                  <a:srgbClr val="232B37"/>
                </a:solidFill>
              </a:defRPr>
            </a:pPr>
            <a:r>
              <a:t>Choose sampling rate and anti-alias filtering consistently; actual values are finalized during implementation.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E"/>
                </a:solidFill>
              </a:rPr>
              <a:t>7. 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RMS energy: summarizes signal strength over a frame.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Zero-crossing rate: rate of sign changes and a possible tonal/noisy indicator.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Dominant frequency: strongest selected spectral component.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Spectral energy: energy in defined frequency bins or bands.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Spectral centroid: magnitude-weighted centre of the spectrum.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Features form a compact numeric vector; usefulness will be tested experimentally.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E"/>
                </a:solidFill>
              </a:rPr>
              <a:t>8. Machine 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Task: supervised multi-class classification using labelled audio.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Decision Tree provides an interpretable baseline; Random Forest is a candidate model.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Input: feature vector. Output: class label supported by final training data.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Compare models on identical train/validation/test partitions.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Report measured results only; no accuracy percentage is assumed before experiments.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Keep all segments from one source recording in one split to reduce leakage.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E"/>
                </a:solidFill>
              </a:rPr>
              <a:t>9. Dataset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Candidate datasets: ESC-50 (2,000 environmental recordings across 50 classes) and UrbanSound8K (8,732 urban-sound excerpts across ten classes).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Inspect metadata first: the proposed target labels may not all be present in one dataset.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Use a small subset with documented class mapping; collect supplemental recordings only if required.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Use public data for initial model development and prototype recordings for real-world validation.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Document dataset source, terms, class counts, split strategy and preprocessing.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E"/>
                </a:solidFill>
              </a:rPr>
              <a:t>10.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1. Confirm target labels and microphone/controller interface.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2. Prepare audio and extract consistent features.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3. Train Decision Tree and Random Forest; tune using validation data only.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4. Evaluate on held-out source recordings with class-wise metrics.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5. Build and verify microphone conditioning and audio acquisition.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6. Integrate local alert output, test prototype recordings and document errors.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E"/>
                </a:solidFill>
              </a:rPr>
              <a:t>11. Evaluation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Accuracy: fraction of all evaluated examples classified correctly.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Precision: how often a predicted class is correct.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Recall: how many true examples of a class are detected.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F1 score: balance between precision and recall.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Confusion matrix: shows class-wise errors.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Recall matters for warning categories, but false alerts and precision must also be considered.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E"/>
                </a:solidFill>
              </a:rPr>
              <a:t>12. Hardware and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Hardware: microphone/module, suitable op-amp and analog components if required, ADC-capable controller/audio interface, LEDs, buzzer, breadboard and regulated supply.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Software: Python, NumPy, SciPy, scikit-learn and Matplotlib; an audio library may be used if required.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Finalize microphone type, sample rate, filter values and circuit topology after compatibility checks.</a:t>
            </a:r>
          </a:p>
          <a:p>
            <a:pPr>
              <a:spcAft>
                <a:spcPts val="1000"/>
              </a:spcAft>
              <a:defRPr sz="1500">
                <a:solidFill>
                  <a:srgbClr val="232B37"/>
                </a:solidFill>
              </a:defRPr>
            </a:pPr>
            <a:r>
              <a:t>Verify ADC voltage limits and use a buzzer driver if component current requires one.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E"/>
                </a:solidFill>
              </a:rPr>
              <a:t>13. Proposed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Play a labelled environmental sound and show predicted class.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Play a horn or siren recording whose label is available in selected training data.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Show the corresponding LED/buzzer/display behaviour.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Repeat at a different distance or with moderate background sound and record the result.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Include an honest failure case and explain possible improvements.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E"/>
                </a:solidFill>
              </a:rPr>
              <a:t>14. Estimated Budget and Three-Month 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143000"/>
            <a:ext cx="2971800" cy="548640"/>
          </a:xfrm>
          <a:prstGeom prst="roundRect">
            <a:avLst/>
          </a:prstGeom>
          <a:solidFill>
            <a:srgbClr val="12233E"/>
          </a:solidFill>
          <a:ln>
            <a:solidFill>
              <a:srgbClr val="12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ESTIMATED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2788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B37"/>
                </a:solidFill>
              </a:defRPr>
            </a:pPr>
            <a:r>
              <a:t>Controller/audio interface: ₹300–₹600</a:t>
            </a:r>
          </a:p>
          <a:p>
            <a:pPr>
              <a:spcAft>
                <a:spcPts val="1000"/>
              </a:spcAft>
              <a:defRPr sz="1400">
                <a:solidFill>
                  <a:srgbClr val="232B37"/>
                </a:solidFill>
              </a:defRPr>
            </a:pPr>
            <a:r>
              <a:t>Microphone + analog parts: ₹200–₹600</a:t>
            </a:r>
          </a:p>
          <a:p>
            <a:pPr>
              <a:spcAft>
                <a:spcPts val="1000"/>
              </a:spcAft>
              <a:defRPr sz="1400">
                <a:solidFill>
                  <a:srgbClr val="232B37"/>
                </a:solidFill>
              </a:defRPr>
            </a:pPr>
            <a:r>
              <a:t>Breadboard, alert and power: ₹400–₹1,000</a:t>
            </a:r>
          </a:p>
          <a:p>
            <a:pPr>
              <a:spcAft>
                <a:spcPts val="1000"/>
              </a:spcAft>
              <a:defRPr sz="1400">
                <a:solidFill>
                  <a:srgbClr val="232B37"/>
                </a:solidFill>
              </a:defRPr>
            </a:pPr>
            <a:r>
              <a:t>Indicative total: ₹900–₹2,200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143000"/>
            <a:ext cx="2971800" cy="548640"/>
          </a:xfrm>
          <a:prstGeom prst="roundRect">
            <a:avLst/>
          </a:prstGeom>
          <a:solidFill>
            <a:srgbClr val="12233E"/>
          </a:solidFill>
          <a:ln>
            <a:solidFill>
              <a:srgbClr val="12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FFFFFF"/>
                </a:solidFill>
              </a:rPr>
              <a:t>THREE-MONTH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874519"/>
            <a:ext cx="2788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B37"/>
                </a:solidFill>
              </a:defRPr>
            </a:pPr>
            <a:r>
              <a:t>Month 1: dataset, features and baseline ML</a:t>
            </a:r>
          </a:p>
          <a:p>
            <a:pPr>
              <a:spcAft>
                <a:spcPts val="1000"/>
              </a:spcAft>
              <a:defRPr sz="1400">
                <a:solidFill>
                  <a:srgbClr val="232B37"/>
                </a:solidFill>
              </a:defRPr>
            </a:pPr>
            <a:r>
              <a:t>Month 2: analog front-end and audio capture</a:t>
            </a:r>
          </a:p>
          <a:p>
            <a:pPr>
              <a:spcAft>
                <a:spcPts val="1000"/>
              </a:spcAft>
              <a:defRPr sz="1400">
                <a:solidFill>
                  <a:srgbClr val="232B37"/>
                </a:solidFill>
              </a:defRPr>
            </a:pPr>
            <a:r>
              <a:t>Month 3: integration, evaluation, report and demo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52360" y="1143000"/>
            <a:ext cx="2971800" cy="548640"/>
          </a:xfrm>
          <a:prstGeom prst="roundRect">
            <a:avLst/>
          </a:prstGeom>
          <a:solidFill>
            <a:srgbClr val="12233E"/>
          </a:solidFill>
          <a:ln>
            <a:solidFill>
              <a:srgbClr val="122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600" b="1">
                <a:solidFill>
                  <a:srgbClr val="FFFFFF"/>
                </a:solidFill>
              </a:rPr>
              <a:t>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874519"/>
            <a:ext cx="27432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B37"/>
                </a:solidFill>
              </a:defRPr>
            </a:pPr>
            <a:r>
              <a:t>Noise/distance affect performance</a:t>
            </a:r>
          </a:p>
          <a:p>
            <a:pPr>
              <a:spcAft>
                <a:spcPts val="1000"/>
              </a:spcAft>
              <a:defRPr sz="1400">
                <a:solidFill>
                  <a:srgbClr val="232B37"/>
                </a:solidFill>
              </a:defRPr>
            </a:pPr>
            <a:r>
              <a:t>Similar/overlapping sounds may be confused</a:t>
            </a:r>
          </a:p>
          <a:p>
            <a:pPr>
              <a:spcAft>
                <a:spcPts val="1000"/>
              </a:spcAft>
              <a:defRPr sz="1400">
                <a:solidFill>
                  <a:srgbClr val="232B37"/>
                </a:solidFill>
              </a:defRPr>
            </a:pPr>
            <a:r>
              <a:t>Dataset and prototype audio can differ</a:t>
            </a:r>
          </a:p>
          <a:p>
            <a:pPr>
              <a:spcAft>
                <a:spcPts val="1000"/>
              </a:spcAft>
              <a:defRPr sz="1400">
                <a:solidFill>
                  <a:srgbClr val="232B37"/>
                </a:solidFill>
              </a:defRPr>
            </a:pPr>
            <a:r>
              <a:t>Not a certified safety device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33856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33E"/>
                </a:solidFill>
              </a:rPr>
              <a:t>15. Conclusion and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The project connects analog acquisition, digital signal analysis and supervised classification in one low-cost prototype.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AECD captures and conditions the signal; SP extracts features; ML predicts the event; local hardware indicates the output.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Future work may add classes, improve noise robustness or investigate lightweight embedded inference after validation.</a:t>
            </a:r>
          </a:p>
          <a:p>
            <a:pPr>
              <a:spcAft>
                <a:spcPts val="1000"/>
              </a:spcAft>
              <a:defRPr sz="1700">
                <a:solidFill>
                  <a:srgbClr val="232B37"/>
                </a:solidFill>
              </a:defRPr>
            </a:pPr>
            <a:r>
              <a:t>Performance remains to be measured; no accuracy or completed implementation result is claimed before testing.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2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38560" y="6647688"/>
            <a:ext cx="4114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FFFFFF"/>
                </a:solidFill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5349240"/>
            <a:ext cx="8503920" cy="594360"/>
          </a:xfrm>
          <a:prstGeom prst="roundRect">
            <a:avLst/>
          </a:prstGeom>
          <a:solidFill>
            <a:srgbClr val="EFF5FC"/>
          </a:solidFill>
          <a:ln>
            <a:solidFill>
              <a:srgbClr val="286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700" b="1">
                <a:solidFill>
                  <a:srgbClr val="12233E"/>
                </a:solidFill>
              </a:rPr>
              <a:t>AECD → SIGNAL PROCESSING → MACHINE LEARNING → ALERT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